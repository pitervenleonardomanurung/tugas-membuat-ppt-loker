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640080"/>
            <a:ext cx="2011680" cy="2011680"/>
          </a:xfrm>
          <a:prstGeom prst="ellipse">
            <a:avLst/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1280160" cy="1280160"/>
          </a:xfrm>
          <a:prstGeom prst="ellipse">
            <a:avLst/>
          </a:prstGeom>
          <a:solidFill>
            <a:srgbClr val="FFE0EB"/>
          </a:solidFill>
          <a:ln>
            <a:solidFill>
              <a:srgbClr val="FF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4846320"/>
            <a:ext cx="594360" cy="594360"/>
          </a:xfrm>
          <a:prstGeom prst="ellipse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85800"/>
            <a:ext cx="1097280" cy="73152"/>
          </a:xfrm>
          <a:prstGeom prst="rect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21792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5F99F2"/>
                </a:solidFill>
                <a:latin typeface="Aptos"/>
              </a:defRPr>
            </a:pPr>
            <a:r>
              <a:t>KONSEP UI/UX • APLIKASI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400800" cy="10972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4400" b="1">
                <a:solidFill>
                  <a:srgbClr val="1B2745"/>
                </a:solidFill>
                <a:latin typeface="Aptos"/>
              </a:defRPr>
            </a:pPr>
            <a:r>
              <a:t>Lokerku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760720" cy="7315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2500" b="1">
                <a:solidFill>
                  <a:srgbClr val="F46F9F"/>
                </a:solidFill>
                <a:latin typeface="Aptos"/>
              </a:defRPr>
            </a:pPr>
            <a:r>
              <a:t>Temukan karier terbaikmu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600" b="0">
                <a:solidFill>
                  <a:srgbClr val="737A8C"/>
                </a:solidFill>
                <a:latin typeface="Aptos"/>
              </a:defRPr>
            </a:pPr>
            <a:r>
              <a:t>Aplikasi pencarian lowongan kerja yang membantu pengguna menemukan pekerjaan sesuai minat, lokasi, dan kebutuhan.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2377440" cy="530352"/>
          </a:xfrm>
          <a:prstGeom prst="roundRect">
            <a:avLst>
              <a:gd name="adj" fmla="val 14000"/>
            </a:avLst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01768"/>
            <a:ext cx="2103120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DESAIN APLIKASI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987552"/>
            <a:ext cx="2971800" cy="5120640"/>
          </a:xfrm>
          <a:prstGeom prst="roundRect">
            <a:avLst>
              <a:gd name="adj" fmla="val 14000"/>
            </a:avLst>
          </a:prstGeom>
          <a:solidFill>
            <a:srgbClr val="E1E2E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914400"/>
            <a:ext cx="2971800" cy="5120640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6448" y="1024128"/>
            <a:ext cx="2752344" cy="490118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16568" y="1024128"/>
            <a:ext cx="832104" cy="109728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152144"/>
            <a:ext cx="251460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737A8C"/>
                </a:solidFill>
                <a:latin typeface="Aptos"/>
              </a:defRPr>
            </a:pPr>
            <a:r>
              <a:t>9:41   ● Wi-Fi  ▰</a:t>
            </a:r>
          </a:p>
        </p:txBody>
      </p:sp>
      <p:sp>
        <p:nvSpPr>
          <p:cNvPr id="17" name="Oval 16"/>
          <p:cNvSpPr/>
          <p:nvPr/>
        </p:nvSpPr>
        <p:spPr>
          <a:xfrm>
            <a:off x="8915400" y="2057400"/>
            <a:ext cx="731520" cy="731520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057400"/>
            <a:ext cx="731520" cy="7315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17520"/>
            <a:ext cx="224028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1B2745"/>
                </a:solidFill>
                <a:latin typeface="Aptos"/>
              </a:defRPr>
            </a:pPr>
            <a:r>
              <a:t>Lokerku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538728"/>
            <a:ext cx="233172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900" b="0">
                <a:solidFill>
                  <a:srgbClr val="737A8C"/>
                </a:solidFill>
                <a:latin typeface="Aptos"/>
              </a:defRPr>
            </a:pPr>
            <a:r>
              <a:t>Temukan karier terbaikmu</a:t>
            </a:r>
          </a:p>
        </p:txBody>
      </p:sp>
      <p:sp>
        <p:nvSpPr>
          <p:cNvPr id="21" name="Oval 20"/>
          <p:cNvSpPr/>
          <p:nvPr/>
        </p:nvSpPr>
        <p:spPr>
          <a:xfrm>
            <a:off x="9052560" y="4343400"/>
            <a:ext cx="118872" cy="118872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45168" y="4343400"/>
            <a:ext cx="118872" cy="118872"/>
          </a:xfrm>
          <a:prstGeom prst="ellipse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37776" y="4343400"/>
            <a:ext cx="118872" cy="118872"/>
          </a:xfrm>
          <a:prstGeom prst="ellipse">
            <a:avLst/>
          </a:prstGeom>
          <a:solidFill>
            <a:srgbClr val="DBDEE7"/>
          </a:solidFill>
          <a:ln>
            <a:solidFill>
              <a:srgbClr val="DB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64008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737A8C"/>
                </a:solidFill>
                <a:latin typeface="Aptos"/>
              </a:defRPr>
            </a:pPr>
            <a:r>
              <a:t>Konsep tampilan aplikasi pencari kerja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737A8C"/>
                </a:solidFill>
                <a:latin typeface="Aptos"/>
              </a:defRPr>
            </a:pPr>
            <a:r>
              <a:t>LOKERKU  /  DESAIN APLIKASI PENCARI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3152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1B2745"/>
                </a:solidFill>
                <a:latin typeface="Aptos"/>
              </a:defRPr>
            </a:pPr>
            <a:r>
              <a:t>Splash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914400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Tampilan pembuka memperkenalkan identitas aplikasi secara sederhana.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320040"/>
            <a:ext cx="384048" cy="38404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09928"/>
            <a:ext cx="914400" cy="54864"/>
          </a:xfrm>
          <a:prstGeom prst="rect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1947672"/>
            <a:ext cx="2880360" cy="4480560"/>
          </a:xfrm>
          <a:prstGeom prst="roundRect">
            <a:avLst>
              <a:gd name="adj" fmla="val 14000"/>
            </a:avLst>
          </a:prstGeom>
          <a:solidFill>
            <a:srgbClr val="E1E2E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74519"/>
            <a:ext cx="2880360" cy="4480560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1984248"/>
            <a:ext cx="2660904" cy="4261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51329" y="1984248"/>
            <a:ext cx="806500" cy="109728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112263"/>
            <a:ext cx="24231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737A8C"/>
                </a:solidFill>
                <a:latin typeface="Aptos"/>
              </a:defRPr>
            </a:pPr>
            <a:r>
              <a:t>9:41   ● Wi-Fi  ▰</a:t>
            </a:r>
          </a:p>
        </p:txBody>
      </p:sp>
      <p:sp>
        <p:nvSpPr>
          <p:cNvPr id="13" name="Oval 12"/>
          <p:cNvSpPr/>
          <p:nvPr/>
        </p:nvSpPr>
        <p:spPr>
          <a:xfrm>
            <a:off x="1755648" y="2944368"/>
            <a:ext cx="777240" cy="777240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5648" y="2944368"/>
            <a:ext cx="777240" cy="7772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39" y="3950207"/>
            <a:ext cx="224028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300" b="1">
                <a:solidFill>
                  <a:srgbClr val="1B2745"/>
                </a:solidFill>
                <a:latin typeface="Aptos"/>
              </a:defRPr>
            </a:pPr>
            <a:r>
              <a:t>Lokerku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39" y="4416552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000" b="0">
                <a:solidFill>
                  <a:srgbClr val="737A8C"/>
                </a:solidFill>
                <a:latin typeface="Aptos"/>
              </a:defRPr>
            </a:pPr>
            <a:r>
              <a:t>Temukan karier terbaikmu</a:t>
            </a:r>
          </a:p>
        </p:txBody>
      </p:sp>
      <p:sp>
        <p:nvSpPr>
          <p:cNvPr id="17" name="Oval 16"/>
          <p:cNvSpPr/>
          <p:nvPr/>
        </p:nvSpPr>
        <p:spPr>
          <a:xfrm>
            <a:off x="1883664" y="5349240"/>
            <a:ext cx="109728" cy="10972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76272" y="5349240"/>
            <a:ext cx="109728" cy="109728"/>
          </a:xfrm>
          <a:prstGeom prst="ellipse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68880" y="5349240"/>
            <a:ext cx="109728" cy="109728"/>
          </a:xfrm>
          <a:prstGeom prst="ellipse">
            <a:avLst/>
          </a:prstGeom>
          <a:solidFill>
            <a:srgbClr val="D7DCE8"/>
          </a:solidFill>
          <a:ln>
            <a:solidFill>
              <a:srgbClr val="D7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965960"/>
            <a:ext cx="630936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5F99F2"/>
                </a:solidFill>
                <a:latin typeface="Aptos"/>
              </a:defRPr>
            </a:pPr>
            <a:r>
              <a:t>KOMPONEN UTAMA</a:t>
            </a:r>
          </a:p>
        </p:txBody>
      </p:sp>
      <p:sp>
        <p:nvSpPr>
          <p:cNvPr id="21" name="Oval 20"/>
          <p:cNvSpPr/>
          <p:nvPr/>
        </p:nvSpPr>
        <p:spPr>
          <a:xfrm>
            <a:off x="4681728" y="2578608"/>
            <a:ext cx="109728" cy="10972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2514600"/>
            <a:ext cx="57607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2F3445"/>
                </a:solidFill>
                <a:latin typeface="Aptos"/>
              </a:defRPr>
            </a:pPr>
            <a:r>
              <a:t>Logo dan nama aplikasi di tengah layar</a:t>
            </a:r>
          </a:p>
        </p:txBody>
      </p:sp>
      <p:sp>
        <p:nvSpPr>
          <p:cNvPr id="23" name="Oval 22"/>
          <p:cNvSpPr/>
          <p:nvPr/>
        </p:nvSpPr>
        <p:spPr>
          <a:xfrm>
            <a:off x="4681728" y="3145536"/>
            <a:ext cx="109728" cy="10972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3081528"/>
            <a:ext cx="57607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2F3445"/>
                </a:solidFill>
                <a:latin typeface="Aptos"/>
              </a:defRPr>
            </a:pPr>
            <a:r>
              <a:t>Tagline singkat yang mudah diingat</a:t>
            </a:r>
          </a:p>
        </p:txBody>
      </p:sp>
      <p:sp>
        <p:nvSpPr>
          <p:cNvPr id="25" name="Oval 24"/>
          <p:cNvSpPr/>
          <p:nvPr/>
        </p:nvSpPr>
        <p:spPr>
          <a:xfrm>
            <a:off x="4681728" y="3712463"/>
            <a:ext cx="109728" cy="10972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648456"/>
            <a:ext cx="57607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2F3445"/>
                </a:solidFill>
                <a:latin typeface="Aptos"/>
              </a:defRPr>
            </a:pPr>
            <a:r>
              <a:t>Indikator loading tiga titik</a:t>
            </a:r>
          </a:p>
        </p:txBody>
      </p:sp>
      <p:sp>
        <p:nvSpPr>
          <p:cNvPr id="27" name="Oval 26"/>
          <p:cNvSpPr/>
          <p:nvPr/>
        </p:nvSpPr>
        <p:spPr>
          <a:xfrm>
            <a:off x="4681728" y="4279392"/>
            <a:ext cx="109728" cy="10972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4215383"/>
            <a:ext cx="57607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2F3445"/>
                </a:solidFill>
                <a:latin typeface="Aptos"/>
              </a:defRPr>
            </a:pPr>
            <a:r>
              <a:t>Warna pastel pink, biru, dan putih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166360"/>
            <a:ext cx="621792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5F99F2"/>
                </a:solidFill>
                <a:latin typeface="Aptos"/>
              </a:defRPr>
            </a:pPr>
            <a:r>
              <a:t>INTERAKSI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504688"/>
            <a:ext cx="621792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737A8C"/>
                </a:solidFill>
                <a:latin typeface="Aptos"/>
              </a:defRPr>
            </a:pPr>
            <a:r>
              <a:t>Setelah proses pembuka selesai, pengguna diarahkan ke halaman login.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737A8C"/>
                </a:solidFill>
                <a:latin typeface="Aptos"/>
              </a:defRPr>
            </a:pPr>
            <a:r>
              <a:t>LOKERKU  /  DESAIN APLIKASI PENCARI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3152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1B2745"/>
                </a:solidFill>
                <a:latin typeface="Aptos"/>
              </a:defRPr>
            </a:pPr>
            <a:r>
              <a:t>Login — Masuk ke Lokerku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914400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Halaman masuk dibuat ringkas agar pengguna dapat mulai mencari pekerjaan.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320040"/>
            <a:ext cx="384048" cy="38404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09928"/>
            <a:ext cx="914400" cy="54864"/>
          </a:xfrm>
          <a:prstGeom prst="rect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1947672"/>
            <a:ext cx="2880360" cy="4480560"/>
          </a:xfrm>
          <a:prstGeom prst="roundRect">
            <a:avLst>
              <a:gd name="adj" fmla="val 14000"/>
            </a:avLst>
          </a:prstGeom>
          <a:solidFill>
            <a:srgbClr val="E1E2E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74519"/>
            <a:ext cx="2880360" cy="4480560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1984248"/>
            <a:ext cx="2660904" cy="4261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51329" y="1984248"/>
            <a:ext cx="806500" cy="109728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112263"/>
            <a:ext cx="24231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737A8C"/>
                </a:solidFill>
                <a:latin typeface="Aptos"/>
              </a:defRPr>
            </a:pPr>
            <a:r>
              <a:t>9:41   ● Wi-Fi  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468879"/>
            <a:ext cx="2295144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B2745"/>
                </a:solidFill>
                <a:latin typeface="Aptos"/>
              </a:defRPr>
            </a:pPr>
            <a:r>
              <a:t>Hai, pengguna 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2880359"/>
            <a:ext cx="2295144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737A8C"/>
                </a:solidFill>
                <a:latin typeface="Aptos"/>
              </a:defRPr>
            </a:pPr>
            <a:r>
              <a:t>Masuk untuk menemukan pekerjaan.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3364991"/>
            <a:ext cx="2295144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1">
                <a:solidFill>
                  <a:srgbClr val="2F3445"/>
                </a:solidFill>
                <a:latin typeface="Aptos"/>
              </a:defRPr>
            </a:pPr>
            <a:r>
              <a:t>Email atau nomor HP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7" y="3621024"/>
            <a:ext cx="2295144" cy="411480"/>
          </a:xfrm>
          <a:prstGeom prst="roundRect">
            <a:avLst>
              <a:gd name="adj" fmla="val 14000"/>
            </a:avLst>
          </a:prstGeom>
          <a:solidFill>
            <a:srgbClr val="FAF3F8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3648455"/>
            <a:ext cx="2112264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737A8C"/>
                </a:solidFill>
                <a:latin typeface="Aptos"/>
              </a:defRPr>
            </a:pPr>
            <a:r>
              <a:t>nama@email.com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4133087"/>
            <a:ext cx="2295144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1">
                <a:solidFill>
                  <a:srgbClr val="2F3445"/>
                </a:solidFill>
                <a:latin typeface="Aptos"/>
              </a:defRPr>
            </a:pPr>
            <a:r>
              <a:t>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7" y="4389120"/>
            <a:ext cx="2295144" cy="411480"/>
          </a:xfrm>
          <a:prstGeom prst="roundRect">
            <a:avLst>
              <a:gd name="adj" fmla="val 14000"/>
            </a:avLst>
          </a:prstGeom>
          <a:solidFill>
            <a:srgbClr val="FAF3F8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416552"/>
            <a:ext cx="2112264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737A8C"/>
                </a:solidFill>
                <a:latin typeface="Aptos"/>
              </a:defRPr>
            </a:pPr>
            <a:r>
              <a:t>••••••••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7" y="4828031"/>
            <a:ext cx="2295144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>
              <a:defRPr sz="700" b="1">
                <a:solidFill>
                  <a:srgbClr val="5F99F2"/>
                </a:solidFill>
                <a:latin typeface="Aptos"/>
              </a:defRPr>
            </a:pPr>
            <a:r>
              <a:t>Lupa password?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7007" y="5166359"/>
            <a:ext cx="2295144" cy="438912"/>
          </a:xfrm>
          <a:prstGeom prst="roundRect">
            <a:avLst>
              <a:gd name="adj" fmla="val 14000"/>
            </a:avLst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7" y="5175504"/>
            <a:ext cx="2295144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Masuk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5715000"/>
            <a:ext cx="2295144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700" b="0">
                <a:solidFill>
                  <a:srgbClr val="737A8C"/>
                </a:solidFill>
                <a:latin typeface="Aptos"/>
              </a:defRPr>
            </a:pPr>
            <a:r>
              <a:t>Belum punya akun? Daftar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057400"/>
            <a:ext cx="63093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KOMPONEN UTAMA</a:t>
            </a:r>
          </a:p>
        </p:txBody>
      </p:sp>
      <p:sp>
        <p:nvSpPr>
          <p:cNvPr id="26" name="Oval 25"/>
          <p:cNvSpPr/>
          <p:nvPr/>
        </p:nvSpPr>
        <p:spPr>
          <a:xfrm>
            <a:off x="4681727" y="250545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441448"/>
            <a:ext cx="612648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Kolom email atau nomor HP</a:t>
            </a:r>
          </a:p>
        </p:txBody>
      </p:sp>
      <p:sp>
        <p:nvSpPr>
          <p:cNvPr id="28" name="Oval 27"/>
          <p:cNvSpPr/>
          <p:nvPr/>
        </p:nvSpPr>
        <p:spPr>
          <a:xfrm>
            <a:off x="4681727" y="3008375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944368"/>
            <a:ext cx="612648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Kolom password dan tautan lupa password</a:t>
            </a:r>
          </a:p>
        </p:txBody>
      </p:sp>
      <p:sp>
        <p:nvSpPr>
          <p:cNvPr id="30" name="Oval 29"/>
          <p:cNvSpPr/>
          <p:nvPr/>
        </p:nvSpPr>
        <p:spPr>
          <a:xfrm>
            <a:off x="4681727" y="3511295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447287"/>
            <a:ext cx="612648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Tombol Masuk serta tautan Daftar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023359"/>
            <a:ext cx="630936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INTERAKSI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334255"/>
            <a:ext cx="6309360" cy="6400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Pengguna mengisi akun, lalu menekan tombol Masuk untuk membuka beranda.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737A8C"/>
                </a:solidFill>
                <a:latin typeface="Aptos"/>
              </a:defRPr>
            </a:pPr>
            <a:r>
              <a:t>LOKERKU  /  DESAIN APLIKASI PENCARI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3152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1B2745"/>
                </a:solidFill>
                <a:latin typeface="Aptos"/>
              </a:defRPr>
            </a:pPr>
            <a:r>
              <a:t>Beranda — Rekomendasi Loker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914400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Beranda menampilkan kolom pencarian, kategori pekerjaan, dan rekomendasi.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320040"/>
            <a:ext cx="384048" cy="38404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09928"/>
            <a:ext cx="914400" cy="54864"/>
          </a:xfrm>
          <a:prstGeom prst="rect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47672"/>
            <a:ext cx="2971800" cy="4526280"/>
          </a:xfrm>
          <a:prstGeom prst="roundRect">
            <a:avLst>
              <a:gd name="adj" fmla="val 14000"/>
            </a:avLst>
          </a:prstGeom>
          <a:solidFill>
            <a:srgbClr val="E1E2E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2971800" cy="4526280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84248"/>
            <a:ext cx="2752344" cy="43068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92807" y="1984248"/>
            <a:ext cx="832104" cy="109728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12263"/>
            <a:ext cx="251460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737A8C"/>
                </a:solidFill>
                <a:latin typeface="Aptos"/>
              </a:defRPr>
            </a:pPr>
            <a:r>
              <a:t>9:41   ● Wi-Fi  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23159"/>
            <a:ext cx="24231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1B2745"/>
                </a:solidFill>
                <a:latin typeface="Aptos"/>
              </a:defRPr>
            </a:pPr>
            <a:r>
              <a:t>Hai, pengguna 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43199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737A8C"/>
                </a:solidFill>
                <a:latin typeface="Aptos"/>
              </a:defRPr>
            </a:pPr>
            <a:r>
              <a:t>Temukan loker hari ini!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090672"/>
            <a:ext cx="2423160" cy="384048"/>
          </a:xfrm>
          <a:prstGeom prst="roundRect">
            <a:avLst>
              <a:gd name="adj" fmla="val 14000"/>
            </a:avLst>
          </a:prstGeom>
          <a:solidFill>
            <a:srgbClr val="FAF3F8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59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737A8C"/>
                </a:solidFill>
                <a:latin typeface="Aptos"/>
              </a:defRPr>
            </a:pPr>
            <a:r>
              <a:t>⌕  Cari posisi atau perusahaan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11879"/>
            <a:ext cx="658368" cy="310896"/>
          </a:xfrm>
          <a:prstGeom prst="roundRect">
            <a:avLst>
              <a:gd name="adj" fmla="val 14000"/>
            </a:avLst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11879"/>
            <a:ext cx="658368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Semua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611879"/>
            <a:ext cx="658368" cy="310896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611879"/>
            <a:ext cx="658368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700" b="1">
                <a:solidFill>
                  <a:srgbClr val="5F99F2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3611879"/>
            <a:ext cx="658368" cy="310896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611879"/>
            <a:ext cx="658368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700" b="1">
                <a:solidFill>
                  <a:srgbClr val="5F99F2"/>
                </a:solidFill>
                <a:latin typeface="Aptos"/>
              </a:defRPr>
            </a:pPr>
            <a:r>
              <a:t>Desain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050791"/>
            <a:ext cx="242316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1B2745"/>
                </a:solidFill>
                <a:latin typeface="Aptos"/>
              </a:defRPr>
            </a:pPr>
            <a:r>
              <a:t>Rekomendasi untukmu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89120"/>
            <a:ext cx="2423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88720" y="4507992"/>
            <a:ext cx="310896" cy="3108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4425696"/>
            <a:ext cx="1783080" cy="2103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1B2745"/>
                </a:solidFill>
                <a:latin typeface="Aptos"/>
              </a:defRPr>
            </a:pPr>
            <a:r>
              <a:t>UI/UX Designer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608576"/>
            <a:ext cx="178308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600" b="0">
                <a:solidFill>
                  <a:srgbClr val="737A8C"/>
                </a:solidFill>
                <a:latin typeface="Aptos"/>
              </a:defRPr>
            </a:pPr>
            <a:r>
              <a:t>Kreasi Digital · Medan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773168"/>
            <a:ext cx="178308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600" b="1">
                <a:solidFill>
                  <a:srgbClr val="5F99F2"/>
                </a:solidFill>
                <a:latin typeface="Aptos"/>
              </a:defRPr>
            </a:pPr>
            <a:r>
              <a:t>Rp 5–8 jt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5047488"/>
            <a:ext cx="2423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8720" y="5166359"/>
            <a:ext cx="310896" cy="310896"/>
          </a:xfrm>
          <a:prstGeom prst="ellipse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68" y="5084064"/>
            <a:ext cx="1783080" cy="2103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1B2745"/>
                </a:solidFill>
                <a:latin typeface="Aptos"/>
              </a:defRPr>
            </a:pPr>
            <a:r>
              <a:t>Admin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266944"/>
            <a:ext cx="178308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600" b="0">
                <a:solidFill>
                  <a:srgbClr val="737A8C"/>
                </a:solidFill>
                <a:latin typeface="Aptos"/>
              </a:defRPr>
            </a:pPr>
            <a:r>
              <a:t>Maju Bersama · Medan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5431536"/>
            <a:ext cx="178308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600" b="1">
                <a:solidFill>
                  <a:srgbClr val="5F99F2"/>
                </a:solidFill>
                <a:latin typeface="Aptos"/>
              </a:defRPr>
            </a:pPr>
            <a:r>
              <a:t>Rp 4–5 jt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705856"/>
            <a:ext cx="2423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88720" y="5824728"/>
            <a:ext cx="310896" cy="310896"/>
          </a:xfrm>
          <a:prstGeom prst="ellipse">
            <a:avLst/>
          </a:prstGeom>
          <a:solidFill>
            <a:srgbClr val="41AD85"/>
          </a:solidFill>
          <a:ln>
            <a:solidFill>
              <a:srgbClr val="41A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72768" y="5742432"/>
            <a:ext cx="1783080" cy="2103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1B2745"/>
                </a:solidFill>
                <a:latin typeface="Aptos"/>
              </a:defRPr>
            </a:pPr>
            <a:r>
              <a:t>Staf Operasional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5925312"/>
            <a:ext cx="178308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600" b="0">
                <a:solidFill>
                  <a:srgbClr val="737A8C"/>
                </a:solidFill>
                <a:latin typeface="Aptos"/>
              </a:defRPr>
            </a:pPr>
            <a:r>
              <a:t>Prima Group · Medan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6089904"/>
            <a:ext cx="178308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600" b="1">
                <a:solidFill>
                  <a:srgbClr val="5F99F2"/>
                </a:solidFill>
                <a:latin typeface="Aptos"/>
              </a:defRPr>
            </a:pPr>
            <a:r>
              <a:t>Rp 4–6 jt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2011680"/>
            <a:ext cx="64922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KOMPONEN UTAMA</a:t>
            </a:r>
          </a:p>
        </p:txBody>
      </p:sp>
      <p:sp>
        <p:nvSpPr>
          <p:cNvPr id="40" name="Oval 39"/>
          <p:cNvSpPr/>
          <p:nvPr/>
        </p:nvSpPr>
        <p:spPr>
          <a:xfrm>
            <a:off x="4590288" y="245973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239572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Kolom pencarian posisi atau perusahaan</a:t>
            </a:r>
          </a:p>
        </p:txBody>
      </p:sp>
      <p:sp>
        <p:nvSpPr>
          <p:cNvPr id="42" name="Oval 41"/>
          <p:cNvSpPr/>
          <p:nvPr/>
        </p:nvSpPr>
        <p:spPr>
          <a:xfrm>
            <a:off x="4590288" y="296265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289864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Kategori pekerjaan seperti Admin dan Desain</a:t>
            </a:r>
          </a:p>
        </p:txBody>
      </p:sp>
      <p:sp>
        <p:nvSpPr>
          <p:cNvPr id="44" name="Oval 43"/>
          <p:cNvSpPr/>
          <p:nvPr/>
        </p:nvSpPr>
        <p:spPr>
          <a:xfrm>
            <a:off x="4590288" y="3465575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340156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Kartu lowongan berisi posisi, perusahaan, lokasi, dan gaji</a:t>
            </a:r>
          </a:p>
        </p:txBody>
      </p:sp>
      <p:sp>
        <p:nvSpPr>
          <p:cNvPr id="46" name="Oval 45"/>
          <p:cNvSpPr/>
          <p:nvPr/>
        </p:nvSpPr>
        <p:spPr>
          <a:xfrm>
            <a:off x="4590288" y="396849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3904487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Navigasi Beranda, Cari, Lamaran, dan Profil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480559"/>
            <a:ext cx="649224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INTERAKSI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791455"/>
            <a:ext cx="6492240" cy="6400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Ketuk salah satu kartu lowongan untuk membaca detail pekerjaan.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737A8C"/>
                </a:solidFill>
                <a:latin typeface="Aptos"/>
              </a:defRPr>
            </a:pPr>
            <a:r>
              <a:t>LOKERKU  /  DESAIN APLIKASI PENCARI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3152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1B2745"/>
                </a:solidFill>
                <a:latin typeface="Aptos"/>
              </a:defRPr>
            </a:pPr>
            <a:r>
              <a:t>Cari &amp; Filter Lowongan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914400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Filter membantu pengguna mempersempit hasil sesuai kebutuhan.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320040"/>
            <a:ext cx="384048" cy="38404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09928"/>
            <a:ext cx="914400" cy="54864"/>
          </a:xfrm>
          <a:prstGeom prst="rect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47672"/>
            <a:ext cx="2971800" cy="4526280"/>
          </a:xfrm>
          <a:prstGeom prst="roundRect">
            <a:avLst>
              <a:gd name="adj" fmla="val 14000"/>
            </a:avLst>
          </a:prstGeom>
          <a:solidFill>
            <a:srgbClr val="E1E2E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2971800" cy="4526280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84248"/>
            <a:ext cx="2752344" cy="43068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92807" y="1984248"/>
            <a:ext cx="832104" cy="109728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12263"/>
            <a:ext cx="251460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737A8C"/>
                </a:solidFill>
                <a:latin typeface="Aptos"/>
              </a:defRPr>
            </a:pPr>
            <a:r>
              <a:t>9:41   ● Wi-Fi  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23159"/>
            <a:ext cx="24231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1B2745"/>
                </a:solidFill>
                <a:latin typeface="Aptos"/>
              </a:defRPr>
            </a:pPr>
            <a:r>
              <a:t>Cari Loker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52927"/>
            <a:ext cx="2423160" cy="384048"/>
          </a:xfrm>
          <a:prstGeom prst="roundRect">
            <a:avLst>
              <a:gd name="adj" fmla="val 14000"/>
            </a:avLst>
          </a:prstGeom>
          <a:solidFill>
            <a:srgbClr val="FAF3F8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871215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737A8C"/>
                </a:solidFill>
                <a:latin typeface="Aptos"/>
              </a:defRPr>
            </a:pPr>
            <a:r>
              <a:t>⌕ 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64991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1">
                <a:solidFill>
                  <a:srgbClr val="1B2745"/>
                </a:solidFill>
                <a:latin typeface="Aptos"/>
              </a:defRPr>
            </a:pPr>
            <a:r>
              <a:t>Lokasi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21024"/>
            <a:ext cx="658368" cy="292608"/>
          </a:xfrm>
          <a:prstGeom prst="roundRect">
            <a:avLst>
              <a:gd name="adj" fmla="val 14000"/>
            </a:avLst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21024"/>
            <a:ext cx="658368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Semua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621024"/>
            <a:ext cx="658368" cy="292608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621024"/>
            <a:ext cx="658368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700" b="1">
                <a:solidFill>
                  <a:srgbClr val="5F99F2"/>
                </a:solidFill>
                <a:latin typeface="Aptos"/>
              </a:defRPr>
            </a:pPr>
            <a:r>
              <a:t>Medan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3621024"/>
            <a:ext cx="658368" cy="292608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621024"/>
            <a:ext cx="658368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700" b="1">
                <a:solidFill>
                  <a:srgbClr val="5F99F2"/>
                </a:solidFill>
                <a:latin typeface="Aptos"/>
              </a:defRPr>
            </a:pPr>
            <a:r>
              <a:t>Jakarta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1">
                <a:solidFill>
                  <a:srgbClr val="1B2745"/>
                </a:solidFill>
                <a:latin typeface="Aptos"/>
              </a:defRPr>
            </a:pPr>
            <a:r>
              <a:t>Tipe kerja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70831"/>
            <a:ext cx="658368" cy="292608"/>
          </a:xfrm>
          <a:prstGeom prst="roundRect">
            <a:avLst>
              <a:gd name="adj" fmla="val 14000"/>
            </a:avLst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370831"/>
            <a:ext cx="658368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ptos"/>
              </a:defRPr>
            </a:pPr>
            <a:r>
              <a:t>Full-time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4370831"/>
            <a:ext cx="658368" cy="292608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370831"/>
            <a:ext cx="658368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1">
                <a:solidFill>
                  <a:srgbClr val="5F99F2"/>
                </a:solidFill>
                <a:latin typeface="Aptos"/>
              </a:defRPr>
            </a:pPr>
            <a:r>
              <a:t>Magang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4370831"/>
            <a:ext cx="658368" cy="292608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4370831"/>
            <a:ext cx="658368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1">
                <a:solidFill>
                  <a:srgbClr val="5F99F2"/>
                </a:solidFill>
                <a:latin typeface="Aptos"/>
              </a:defRPr>
            </a:pPr>
            <a:r>
              <a:t>Freelance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1">
                <a:solidFill>
                  <a:srgbClr val="1B2745"/>
                </a:solidFill>
                <a:latin typeface="Aptos"/>
              </a:defRPr>
            </a:pPr>
            <a:r>
              <a:t>Rentang gaji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20640"/>
            <a:ext cx="24231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5F99F2"/>
                </a:solidFill>
                <a:latin typeface="Aptos"/>
              </a:defRPr>
            </a:pPr>
            <a:r>
              <a:t>Rp 3 jt  ━━━━━●━━━━  Rp 15 jt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440679"/>
            <a:ext cx="2423160" cy="384048"/>
          </a:xfrm>
          <a:prstGeom prst="roundRect">
            <a:avLst>
              <a:gd name="adj" fmla="val 14000"/>
            </a:avLst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49823"/>
            <a:ext cx="2423160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Tampilkan lowongan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870448"/>
            <a:ext cx="2423160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700" b="0">
                <a:solidFill>
                  <a:srgbClr val="737A8C"/>
                </a:solidFill>
                <a:latin typeface="Aptos"/>
              </a:defRPr>
            </a:pPr>
            <a:r>
              <a:t>↻  Reset filter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011680"/>
            <a:ext cx="64922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KOMPONEN UTAMA</a:t>
            </a:r>
          </a:p>
        </p:txBody>
      </p:sp>
      <p:sp>
        <p:nvSpPr>
          <p:cNvPr id="36" name="Oval 35"/>
          <p:cNvSpPr/>
          <p:nvPr/>
        </p:nvSpPr>
        <p:spPr>
          <a:xfrm>
            <a:off x="4590288" y="245973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39572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Pencarian berdasarkan kata kunci</a:t>
            </a:r>
          </a:p>
        </p:txBody>
      </p:sp>
      <p:sp>
        <p:nvSpPr>
          <p:cNvPr id="38" name="Oval 37"/>
          <p:cNvSpPr/>
          <p:nvPr/>
        </p:nvSpPr>
        <p:spPr>
          <a:xfrm>
            <a:off x="4590288" y="296265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289864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Filter lokasi dan tipe kerja</a:t>
            </a:r>
          </a:p>
        </p:txBody>
      </p:sp>
      <p:sp>
        <p:nvSpPr>
          <p:cNvPr id="40" name="Oval 39"/>
          <p:cNvSpPr/>
          <p:nvPr/>
        </p:nvSpPr>
        <p:spPr>
          <a:xfrm>
            <a:off x="4590288" y="3465575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340156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Rentang gaji menggunakan slider visual</a:t>
            </a:r>
          </a:p>
        </p:txBody>
      </p:sp>
      <p:sp>
        <p:nvSpPr>
          <p:cNvPr id="42" name="Oval 41"/>
          <p:cNvSpPr/>
          <p:nvPr/>
        </p:nvSpPr>
        <p:spPr>
          <a:xfrm>
            <a:off x="4590288" y="396849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3904487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Tombol Tampilkan Lowongan dan Reset Filter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480559"/>
            <a:ext cx="649224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INTERAKSI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791455"/>
            <a:ext cx="6492240" cy="6400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Setelah filter dipilih, pengguna menekan Tampilkan Lowongan untuk melihat hasil yang sesuai.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737A8C"/>
                </a:solidFill>
                <a:latin typeface="Aptos"/>
              </a:defRPr>
            </a:pPr>
            <a:r>
              <a:t>LOKERKU  /  DESAIN APLIKASI PENCARI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3152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1B2745"/>
                </a:solidFill>
                <a:latin typeface="Aptos"/>
              </a:defRPr>
            </a:pPr>
            <a:r>
              <a:t>Detail Lowongan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914400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Informasi pekerjaan ditampilkan sebelum pengguna memutuskan untuk melamar.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320040"/>
            <a:ext cx="384048" cy="38404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09928"/>
            <a:ext cx="914400" cy="54864"/>
          </a:xfrm>
          <a:prstGeom prst="rect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47672"/>
            <a:ext cx="2971800" cy="4526280"/>
          </a:xfrm>
          <a:prstGeom prst="roundRect">
            <a:avLst>
              <a:gd name="adj" fmla="val 14000"/>
            </a:avLst>
          </a:prstGeom>
          <a:solidFill>
            <a:srgbClr val="E1E2E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2971800" cy="4526280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84248"/>
            <a:ext cx="2752344" cy="43068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92807" y="1984248"/>
            <a:ext cx="832104" cy="109728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12263"/>
            <a:ext cx="251460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737A8C"/>
                </a:solidFill>
                <a:latin typeface="Aptos"/>
              </a:defRPr>
            </a:pPr>
            <a:r>
              <a:t>9:41   ● Wi-Fi  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23159"/>
            <a:ext cx="2423160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B2745"/>
                </a:solidFill>
                <a:latin typeface="Aptos"/>
              </a:defRPr>
            </a:pPr>
            <a:r>
              <a:t>Detail Lowongan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816351"/>
            <a:ext cx="502920" cy="502920"/>
          </a:xfrm>
          <a:prstGeom prst="ellipse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16351"/>
            <a:ext cx="50292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2816351"/>
            <a:ext cx="178308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1B2745"/>
                </a:solidFill>
                <a:latin typeface="Aptos"/>
              </a:defRPr>
            </a:pPr>
            <a:r>
              <a:t>Admin 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3072383"/>
            <a:ext cx="178308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0">
                <a:solidFill>
                  <a:srgbClr val="737A8C"/>
                </a:solidFill>
                <a:latin typeface="Aptos"/>
              </a:defRPr>
            </a:pPr>
            <a:r>
              <a:t>Maju Bersama · Medan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456431"/>
            <a:ext cx="731520" cy="594360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493007"/>
            <a:ext cx="694944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1">
                <a:solidFill>
                  <a:srgbClr val="737A8C"/>
                </a:solidFill>
                <a:latin typeface="Aptos"/>
              </a:defRPr>
            </a:pPr>
            <a:r>
              <a:t>Gaji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703320"/>
            <a:ext cx="69494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1">
                <a:solidFill>
                  <a:srgbClr val="1B2745"/>
                </a:solidFill>
                <a:latin typeface="Aptos"/>
              </a:defRPr>
            </a:pPr>
            <a:r>
              <a:t>Rp 4–5 jt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1952" y="3456431"/>
            <a:ext cx="731520" cy="594360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493007"/>
            <a:ext cx="694944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1">
                <a:solidFill>
                  <a:srgbClr val="737A8C"/>
                </a:solidFill>
                <a:latin typeface="Aptos"/>
              </a:defRPr>
            </a:pPr>
            <a:r>
              <a:t>Tipe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703320"/>
            <a:ext cx="69494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1">
                <a:solidFill>
                  <a:srgbClr val="1B2745"/>
                </a:solidFill>
                <a:latin typeface="Aptos"/>
              </a:defRPr>
            </a:pPr>
            <a:r>
              <a:t>Full-time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06624" y="3456431"/>
            <a:ext cx="731520" cy="594360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24912" y="3493007"/>
            <a:ext cx="694944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1">
                <a:solidFill>
                  <a:srgbClr val="737A8C"/>
                </a:solidFill>
                <a:latin typeface="Aptos"/>
              </a:defRPr>
            </a:pPr>
            <a:r>
              <a:t>Pengalaman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4912" y="3703320"/>
            <a:ext cx="69494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1">
                <a:solidFill>
                  <a:srgbClr val="1B2745"/>
                </a:solidFill>
                <a:latin typeface="Aptos"/>
              </a:defRPr>
            </a:pPr>
            <a:r>
              <a:t>1–2 tahun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187952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1">
                <a:solidFill>
                  <a:srgbClr val="1B2745"/>
                </a:solidFill>
                <a:latin typeface="Aptos"/>
              </a:defRPr>
            </a:pPr>
            <a:r>
              <a:t>Deskripsi pekerjaan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25696"/>
            <a:ext cx="242316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0">
                <a:solidFill>
                  <a:srgbClr val="737A8C"/>
                </a:solidFill>
                <a:latin typeface="Aptos"/>
              </a:defRPr>
            </a:pPr>
            <a:r>
              <a:t>Membantu kegiatan pemasaran, mengelola data pelanggan, dan membuat laporan.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965192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1">
                <a:solidFill>
                  <a:srgbClr val="1B2745"/>
                </a:solidFill>
                <a:latin typeface="Aptos"/>
              </a:defRPr>
            </a:pPr>
            <a:r>
              <a:t>Persyaratan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12079"/>
            <a:ext cx="242316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0">
                <a:solidFill>
                  <a:srgbClr val="737A8C"/>
                </a:solidFill>
                <a:latin typeface="Aptos"/>
              </a:defRPr>
            </a:pPr>
            <a:r>
              <a:t>• Komunikatif</a:t>
            </a:r>
          </a:p>
          <a:p>
            <a:pPr algn="l">
              <a:defRPr sz="700" b="0">
                <a:solidFill>
                  <a:srgbClr val="737A8C"/>
                </a:solidFill>
                <a:latin typeface="Aptos"/>
              </a:defRPr>
            </a:pPr>
            <a:r>
              <a:t>• Teliti dan bertanggung jawab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687568"/>
            <a:ext cx="2423160" cy="384048"/>
          </a:xfrm>
          <a:prstGeom prst="roundRect">
            <a:avLst>
              <a:gd name="adj" fmla="val 14000"/>
            </a:avLst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696712"/>
            <a:ext cx="2423160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Lamar Sekarang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011680"/>
            <a:ext cx="64922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KOMPONEN UTAMA</a:t>
            </a:r>
          </a:p>
        </p:txBody>
      </p:sp>
      <p:sp>
        <p:nvSpPr>
          <p:cNvPr id="34" name="Oval 33"/>
          <p:cNvSpPr/>
          <p:nvPr/>
        </p:nvSpPr>
        <p:spPr>
          <a:xfrm>
            <a:off x="4590288" y="245973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39572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Nama posisi, perusahaan, dan lokasi</a:t>
            </a:r>
          </a:p>
        </p:txBody>
      </p:sp>
      <p:sp>
        <p:nvSpPr>
          <p:cNvPr id="36" name="Oval 35"/>
          <p:cNvSpPr/>
          <p:nvPr/>
        </p:nvSpPr>
        <p:spPr>
          <a:xfrm>
            <a:off x="4590288" y="296265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89864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Ringkasan gaji, tipe kerja, dan pengalaman</a:t>
            </a:r>
          </a:p>
        </p:txBody>
      </p:sp>
      <p:sp>
        <p:nvSpPr>
          <p:cNvPr id="38" name="Oval 37"/>
          <p:cNvSpPr/>
          <p:nvPr/>
        </p:nvSpPr>
        <p:spPr>
          <a:xfrm>
            <a:off x="4590288" y="3465575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340156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Deskripsi pekerjaan serta persyaratan</a:t>
            </a:r>
          </a:p>
        </p:txBody>
      </p:sp>
      <p:sp>
        <p:nvSpPr>
          <p:cNvPr id="40" name="Oval 39"/>
          <p:cNvSpPr/>
          <p:nvPr/>
        </p:nvSpPr>
        <p:spPr>
          <a:xfrm>
            <a:off x="4590288" y="396849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3904487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Tombol Lamar Sekarang dan simpan lowongan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480559"/>
            <a:ext cx="649224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INTERAKSI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791455"/>
            <a:ext cx="6492240" cy="6400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Pengguna memeriksa kecocokan pekerjaan, lalu memilih Lamar Sekarang jika berminat.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737A8C"/>
                </a:solidFill>
                <a:latin typeface="Aptos"/>
              </a:defRPr>
            </a:pPr>
            <a:r>
              <a:t>LOKERKU  /  DESAIN APLIKASI PENCARI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3152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1B2745"/>
                </a:solidFill>
                <a:latin typeface="Aptos"/>
              </a:defRPr>
            </a:pPr>
            <a:r>
              <a:t>Formulir Lamaran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914400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Proses melamar dibuat bertahap supaya pengguna mengetahui langkah yang harus diselesaikan.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320040"/>
            <a:ext cx="384048" cy="38404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09928"/>
            <a:ext cx="914400" cy="54864"/>
          </a:xfrm>
          <a:prstGeom prst="rect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47672"/>
            <a:ext cx="2971800" cy="4526280"/>
          </a:xfrm>
          <a:prstGeom prst="roundRect">
            <a:avLst>
              <a:gd name="adj" fmla="val 14000"/>
            </a:avLst>
          </a:prstGeom>
          <a:solidFill>
            <a:srgbClr val="E1E2E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2971800" cy="4526280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84248"/>
            <a:ext cx="2752344" cy="43068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92807" y="1984248"/>
            <a:ext cx="832104" cy="109728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12263"/>
            <a:ext cx="251460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737A8C"/>
                </a:solidFill>
                <a:latin typeface="Aptos"/>
              </a:defRPr>
            </a:pPr>
            <a:r>
              <a:t>9:41   ● Wi-Fi  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23159"/>
            <a:ext cx="242316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B2745"/>
                </a:solidFill>
                <a:latin typeface="Aptos"/>
              </a:defRPr>
            </a:pPr>
            <a:r>
              <a:t>Lamar Pekerjaan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61487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5F99F2"/>
                </a:solidFill>
                <a:latin typeface="Aptos"/>
              </a:defRPr>
            </a:pPr>
            <a:r>
              <a:t>Langkah 2 dari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35807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600" b="1">
                <a:solidFill>
                  <a:srgbClr val="737A8C"/>
                </a:solidFill>
                <a:latin typeface="Aptos"/>
              </a:defRPr>
            </a:pPr>
            <a:r>
              <a:t>① Data diri  ━  ② CV  ━  ③ Pesan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10711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1">
                <a:solidFill>
                  <a:srgbClr val="1B2745"/>
                </a:solidFill>
                <a:latin typeface="Aptos"/>
              </a:defRPr>
            </a:pPr>
            <a:r>
              <a:t>Unggah CV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75887"/>
            <a:ext cx="2423160" cy="868680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22402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00" b="1">
                <a:solidFill>
                  <a:srgbClr val="5F99F2"/>
                </a:solidFill>
                <a:latin typeface="Aptos"/>
              </a:defRPr>
            </a:pPr>
            <a:r>
              <a:t>＋ Ketuk untuk unggah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14800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600" b="0">
                <a:solidFill>
                  <a:srgbClr val="737A8C"/>
                </a:solidFill>
                <a:latin typeface="Aptos"/>
              </a:defRPr>
            </a:pPr>
            <a:r>
              <a:t>Format PDF • Maks. 5 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645152"/>
            <a:ext cx="2423160" cy="365760"/>
          </a:xfrm>
          <a:prstGeom prst="roundRect">
            <a:avLst>
              <a:gd name="adj" fmla="val 14000"/>
            </a:avLst>
          </a:prstGeom>
          <a:solidFill>
            <a:srgbClr val="FAF3F8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663440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0">
                <a:solidFill>
                  <a:srgbClr val="737A8C"/>
                </a:solidFill>
                <a:latin typeface="Aptos"/>
              </a:defRPr>
            </a:pPr>
            <a:r>
              <a:t>📄 CV_Pelamar.pdf · 1,2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02352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1">
                <a:solidFill>
                  <a:srgbClr val="1B2745"/>
                </a:solidFill>
                <a:latin typeface="Aptos"/>
              </a:defRPr>
            </a:pPr>
            <a:r>
              <a:t>Pesan untuk perekrut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367527"/>
            <a:ext cx="2423160" cy="411480"/>
          </a:xfrm>
          <a:prstGeom prst="roundRect">
            <a:avLst>
              <a:gd name="adj" fmla="val 14000"/>
            </a:avLst>
          </a:prstGeom>
          <a:solidFill>
            <a:srgbClr val="FAF3F8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394959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600" b="0">
                <a:solidFill>
                  <a:srgbClr val="737A8C"/>
                </a:solidFill>
                <a:latin typeface="Aptos"/>
              </a:defRPr>
            </a:pPr>
            <a:r>
              <a:t>Tulis alasan singkat kamu cocok...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870448"/>
            <a:ext cx="2423160" cy="347472"/>
          </a:xfrm>
          <a:prstGeom prst="roundRect">
            <a:avLst>
              <a:gd name="adj" fmla="val 14000"/>
            </a:avLst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870448"/>
            <a:ext cx="2423160" cy="33832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Lanjut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011680"/>
            <a:ext cx="64922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KOMPONEN UTAMA</a:t>
            </a:r>
          </a:p>
        </p:txBody>
      </p:sp>
      <p:sp>
        <p:nvSpPr>
          <p:cNvPr id="28" name="Oval 27"/>
          <p:cNvSpPr/>
          <p:nvPr/>
        </p:nvSpPr>
        <p:spPr>
          <a:xfrm>
            <a:off x="4590288" y="245973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39572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Tahapan data diri, CV, dan pesan untuk perekrut</a:t>
            </a:r>
          </a:p>
        </p:txBody>
      </p:sp>
      <p:sp>
        <p:nvSpPr>
          <p:cNvPr id="30" name="Oval 29"/>
          <p:cNvSpPr/>
          <p:nvPr/>
        </p:nvSpPr>
        <p:spPr>
          <a:xfrm>
            <a:off x="4590288" y="296265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289864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Area unggah CV beserta batas ukuran file</a:t>
            </a:r>
          </a:p>
        </p:txBody>
      </p:sp>
      <p:sp>
        <p:nvSpPr>
          <p:cNvPr id="32" name="Oval 31"/>
          <p:cNvSpPr/>
          <p:nvPr/>
        </p:nvSpPr>
        <p:spPr>
          <a:xfrm>
            <a:off x="4590288" y="3465575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401568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Ringkasan berkas yang sudah dipilih</a:t>
            </a:r>
          </a:p>
        </p:txBody>
      </p:sp>
      <p:sp>
        <p:nvSpPr>
          <p:cNvPr id="34" name="Oval 33"/>
          <p:cNvSpPr/>
          <p:nvPr/>
        </p:nvSpPr>
        <p:spPr>
          <a:xfrm>
            <a:off x="4590288" y="3968496"/>
            <a:ext cx="82296" cy="8229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904487"/>
            <a:ext cx="6309359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2F3445"/>
                </a:solidFill>
                <a:latin typeface="Aptos"/>
              </a:defRPr>
            </a:pPr>
            <a:r>
              <a:t>Kolom pesan singkat untuk perekrut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480559"/>
            <a:ext cx="649224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INTERAKSI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791455"/>
            <a:ext cx="6492240" cy="6400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Pengguna melengkapi data dan CV, lalu melanjutkan ke konfirmasi pengiriman lamaran.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737A8C"/>
                </a:solidFill>
                <a:latin typeface="Aptos"/>
              </a:defRPr>
            </a:pPr>
            <a:r>
              <a:t>LOKERKU  /  DESAIN APLIKASI PENCARI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3152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1B2745"/>
                </a:solidFill>
                <a:latin typeface="Aptos"/>
              </a:defRPr>
            </a:pPr>
            <a:r>
              <a:t>Lamaran Berhasil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914400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737A8C"/>
                </a:solidFill>
                <a:latin typeface="Aptos"/>
              </a:defRPr>
            </a:pPr>
            <a:r>
              <a:t>Konfirmasi dan status lamaran membantu pengguna memantau proses setelah mengirimkan CV.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320040"/>
            <a:ext cx="384048" cy="38404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09928"/>
            <a:ext cx="914400" cy="54864"/>
          </a:xfrm>
          <a:prstGeom prst="rect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947672"/>
            <a:ext cx="2743200" cy="4526280"/>
          </a:xfrm>
          <a:prstGeom prst="roundRect">
            <a:avLst>
              <a:gd name="adj" fmla="val 14000"/>
            </a:avLst>
          </a:prstGeom>
          <a:solidFill>
            <a:srgbClr val="E1E2E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2743200" cy="4526280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1984248"/>
            <a:ext cx="2523744" cy="43068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73352" y="1984248"/>
            <a:ext cx="768096" cy="109728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12263"/>
            <a:ext cx="228600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1">
                <a:solidFill>
                  <a:srgbClr val="737A8C"/>
                </a:solidFill>
                <a:latin typeface="Aptos"/>
              </a:defRPr>
            </a:pPr>
            <a:r>
              <a:t>9:41   ● Wi-Fi  ▰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880359"/>
            <a:ext cx="658368" cy="658368"/>
          </a:xfrm>
          <a:prstGeom prst="ellipse">
            <a:avLst/>
          </a:prstGeom>
          <a:solidFill>
            <a:srgbClr val="41AD85"/>
          </a:solidFill>
          <a:ln>
            <a:solidFill>
              <a:srgbClr val="41A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8488" y="2880359"/>
            <a:ext cx="658368" cy="6583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3675887"/>
            <a:ext cx="2157984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1B2745"/>
                </a:solidFill>
                <a:latin typeface="Aptos"/>
              </a:defRPr>
            </a:pPr>
            <a:r>
              <a:t>Lamaran terkirim!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4151375"/>
            <a:ext cx="2157984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00" b="0">
                <a:solidFill>
                  <a:srgbClr val="737A8C"/>
                </a:solidFill>
                <a:latin typeface="Aptos"/>
              </a:defRPr>
            </a:pPr>
            <a:r>
              <a:t>Perekrut akan meninjau CV-mu.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709159"/>
            <a:ext cx="2194560" cy="749808"/>
          </a:xfrm>
          <a:prstGeom prst="roundRect">
            <a:avLst>
              <a:gd name="adj" fmla="val 14000"/>
            </a:avLst>
          </a:prstGeom>
          <a:solidFill>
            <a:srgbClr val="FAF3F8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754879"/>
            <a:ext cx="2011680" cy="5943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700" b="0">
                <a:solidFill>
                  <a:srgbClr val="2F3445"/>
                </a:solidFill>
                <a:latin typeface="Aptos"/>
              </a:defRPr>
            </a:pPr>
            <a:r>
              <a:t>Posisi: Admin Marketing</a:t>
            </a:r>
          </a:p>
          <a:p>
            <a:pPr algn="l">
              <a:defRPr sz="700" b="0">
                <a:solidFill>
                  <a:srgbClr val="2F3445"/>
                </a:solidFill>
                <a:latin typeface="Aptos"/>
              </a:defRPr>
            </a:pPr>
            <a:r>
              <a:t>Perusahaan: Maju Bersama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623559"/>
            <a:ext cx="2194560" cy="384048"/>
          </a:xfrm>
          <a:prstGeom prst="roundRect">
            <a:avLst>
              <a:gd name="adj" fmla="val 14000"/>
            </a:avLst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623559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Lihat Status Lamaran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2011680"/>
            <a:ext cx="3291840" cy="4069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240280"/>
            <a:ext cx="27432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5F99F2"/>
                </a:solidFill>
                <a:latin typeface="Aptos"/>
              </a:defRPr>
            </a:pPr>
            <a:r>
              <a:t>STATUS LAMARAN</a:t>
            </a:r>
          </a:p>
        </p:txBody>
      </p:sp>
      <p:sp>
        <p:nvSpPr>
          <p:cNvPr id="23" name="Oval 22"/>
          <p:cNvSpPr/>
          <p:nvPr/>
        </p:nvSpPr>
        <p:spPr>
          <a:xfrm>
            <a:off x="4279392" y="2770632"/>
            <a:ext cx="219456" cy="219456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743200"/>
            <a:ext cx="23317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B2745"/>
                </a:solidFill>
                <a:latin typeface="Aptos"/>
              </a:defRPr>
            </a:pPr>
            <a:r>
              <a:t>Terkirim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990088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737A8C"/>
                </a:solidFill>
                <a:latin typeface="Aptos"/>
              </a:defRPr>
            </a:pPr>
            <a:r>
              <a:t>Lamaran sudah dikirim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5404" y="2999232"/>
            <a:ext cx="32004" cy="438912"/>
          </a:xfrm>
          <a:prstGeom prst="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79392" y="3483864"/>
            <a:ext cx="219456" cy="219456"/>
          </a:xfrm>
          <a:prstGeom prst="ellipse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456432"/>
            <a:ext cx="23317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B2745"/>
                </a:solidFill>
                <a:latin typeface="Aptos"/>
              </a:defRPr>
            </a:pPr>
            <a:r>
              <a:t>Ditinjau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703320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737A8C"/>
                </a:solidFill>
                <a:latin typeface="Aptos"/>
              </a:defRPr>
            </a:pPr>
            <a:r>
              <a:t>CV sedang diperiksa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5404" y="3712464"/>
            <a:ext cx="32004" cy="438912"/>
          </a:xfrm>
          <a:prstGeom prst="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79392" y="4197096"/>
            <a:ext cx="219456" cy="219456"/>
          </a:xfrm>
          <a:prstGeom prst="ellipse">
            <a:avLst/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169664"/>
            <a:ext cx="23317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B2745"/>
                </a:solidFill>
                <a:latin typeface="Aptos"/>
              </a:defRPr>
            </a:pPr>
            <a:r>
              <a:t>Wawancara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416552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737A8C"/>
                </a:solidFill>
                <a:latin typeface="Aptos"/>
              </a:defRPr>
            </a:pPr>
            <a:r>
              <a:t>Masuk tahap wawancara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5404" y="4425696"/>
            <a:ext cx="32004" cy="438912"/>
          </a:xfrm>
          <a:prstGeom prst="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279392" y="4910328"/>
            <a:ext cx="219456" cy="219456"/>
          </a:xfrm>
          <a:prstGeom prst="ellipse">
            <a:avLst/>
          </a:prstGeom>
          <a:solidFill>
            <a:srgbClr val="41AD85"/>
          </a:solidFill>
          <a:ln>
            <a:solidFill>
              <a:srgbClr val="41A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4882896"/>
            <a:ext cx="23317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B2745"/>
                </a:solidFill>
                <a:latin typeface="Aptos"/>
              </a:defRPr>
            </a:pPr>
            <a:r>
              <a:t>Diterima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129783"/>
            <a:ext cx="24231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737A8C"/>
                </a:solidFill>
                <a:latin typeface="Aptos"/>
              </a:defRPr>
            </a:pPr>
            <a:r>
              <a:t>Lamaran diterima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2011680"/>
            <a:ext cx="3840480" cy="4069080"/>
          </a:xfrm>
          <a:prstGeom prst="roundRect">
            <a:avLst>
              <a:gd name="adj" fmla="val 14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2331720"/>
            <a:ext cx="32004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5F99F2"/>
                </a:solidFill>
                <a:latin typeface="Aptos"/>
              </a:defRPr>
            </a:pPr>
            <a:r>
              <a:t>KOMPONEN UTAMA</a:t>
            </a:r>
          </a:p>
        </p:txBody>
      </p:sp>
      <p:sp>
        <p:nvSpPr>
          <p:cNvPr id="40" name="Oval 39"/>
          <p:cNvSpPr/>
          <p:nvPr/>
        </p:nvSpPr>
        <p:spPr>
          <a:xfrm>
            <a:off x="7973568" y="2852928"/>
            <a:ext cx="91440" cy="91440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79" y="2788920"/>
            <a:ext cx="28346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2F3445"/>
                </a:solidFill>
                <a:latin typeface="Aptos"/>
              </a:defRPr>
            </a:pPr>
            <a:r>
              <a:t>Notifikasi bahwa lamaran berhasil</a:t>
            </a:r>
          </a:p>
        </p:txBody>
      </p:sp>
      <p:sp>
        <p:nvSpPr>
          <p:cNvPr id="42" name="Oval 41"/>
          <p:cNvSpPr/>
          <p:nvPr/>
        </p:nvSpPr>
        <p:spPr>
          <a:xfrm>
            <a:off x="7973568" y="3419856"/>
            <a:ext cx="91440" cy="91440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3355848"/>
            <a:ext cx="28346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2F3445"/>
                </a:solidFill>
                <a:latin typeface="Aptos"/>
              </a:defRPr>
            </a:pPr>
            <a:r>
              <a:t>Ringkasan posisi dan perusahaan</a:t>
            </a:r>
          </a:p>
        </p:txBody>
      </p:sp>
      <p:sp>
        <p:nvSpPr>
          <p:cNvPr id="44" name="Oval 43"/>
          <p:cNvSpPr/>
          <p:nvPr/>
        </p:nvSpPr>
        <p:spPr>
          <a:xfrm>
            <a:off x="7973568" y="3986784"/>
            <a:ext cx="91440" cy="91440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79" y="3922776"/>
            <a:ext cx="28346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2F3445"/>
                </a:solidFill>
                <a:latin typeface="Aptos"/>
              </a:defRPr>
            </a:pPr>
            <a:r>
              <a:t>Daftar lamaran yang pernah dikirim</a:t>
            </a:r>
          </a:p>
        </p:txBody>
      </p:sp>
      <p:sp>
        <p:nvSpPr>
          <p:cNvPr id="46" name="Oval 45"/>
          <p:cNvSpPr/>
          <p:nvPr/>
        </p:nvSpPr>
        <p:spPr>
          <a:xfrm>
            <a:off x="7973568" y="4553712"/>
            <a:ext cx="91440" cy="91440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4489704"/>
            <a:ext cx="28346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2F3445"/>
                </a:solidFill>
                <a:latin typeface="Aptos"/>
              </a:defRPr>
            </a:pPr>
            <a:r>
              <a:t>Status dari terkirim hingga diterima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5440680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5F99F2"/>
                </a:solidFill>
                <a:latin typeface="Aptos"/>
              </a:defRPr>
            </a:pPr>
            <a:r>
              <a:t>INTERAKSI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5715000"/>
            <a:ext cx="310896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737A8C"/>
                </a:solidFill>
                <a:latin typeface="Aptos"/>
              </a:defRPr>
            </a:pPr>
            <a:r>
              <a:t>Pilih lamaran untuk melihat statusnya.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7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548640"/>
            <a:ext cx="2011680" cy="2011680"/>
          </a:xfrm>
          <a:prstGeom prst="ellipse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206240"/>
            <a:ext cx="1371600" cy="1371600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5212080"/>
            <a:ext cx="502920" cy="502920"/>
          </a:xfrm>
          <a:prstGeom prst="ellipse">
            <a:avLst/>
          </a:prstGeom>
          <a:solidFill>
            <a:srgbClr val="41AD85"/>
          </a:solidFill>
          <a:ln>
            <a:solidFill>
              <a:srgbClr val="41A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B5CDFF"/>
                </a:solidFill>
                <a:latin typeface="Aptos"/>
              </a:defRPr>
            </a:pPr>
            <a:r>
              <a:t>LOKERKU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583680" cy="8229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Terima Kasih!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6126480" cy="8229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800" b="0">
                <a:solidFill>
                  <a:srgbClr val="DCE2F0"/>
                </a:solidFill>
                <a:latin typeface="Aptos"/>
              </a:defRPr>
            </a:pPr>
            <a:r>
              <a:t>Semoga Lokerku membantu pengguna menemukan peluang karier yang tepat.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2194560" cy="73152"/>
          </a:xfrm>
          <a:prstGeom prst="rect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530352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B5CDFF"/>
                </a:solidFill>
                <a:latin typeface="Aptos"/>
              </a:defRPr>
            </a:pPr>
            <a:r>
              <a:t>Konsep UI/UX • Aplikasi Pencari Kerja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417320"/>
            <a:ext cx="1965960" cy="397763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13648" y="1600200"/>
            <a:ext cx="1655064" cy="3611880"/>
          </a:xfrm>
          <a:prstGeom prst="roundRect">
            <a:avLst>
              <a:gd name="adj" fmla="val 14000"/>
            </a:avLst>
          </a:prstGeom>
          <a:solidFill>
            <a:srgbClr val="FAF3F8"/>
          </a:solidFill>
          <a:ln>
            <a:solidFill>
              <a:srgbClr val="FA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70848" y="1664208"/>
            <a:ext cx="749808" cy="91440"/>
          </a:xfrm>
          <a:prstGeom prst="roundRect">
            <a:avLst>
              <a:gd name="adj" fmla="val 14000"/>
            </a:avLst>
          </a:prstGeom>
          <a:solidFill>
            <a:srgbClr val="1B2745"/>
          </a:solidFill>
          <a:ln>
            <a:solidFill>
              <a:srgbClr val="1B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70848" y="2331720"/>
            <a:ext cx="731520" cy="731520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2331720"/>
            <a:ext cx="731520" cy="7315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3246120"/>
            <a:ext cx="13716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1B2745"/>
                </a:solidFill>
                <a:latin typeface="Aptos"/>
              </a:defRPr>
            </a:pPr>
            <a:r>
              <a:t>Lokerku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3611880"/>
            <a:ext cx="137160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900" b="0">
                <a:solidFill>
                  <a:srgbClr val="737A8C"/>
                </a:solidFill>
                <a:latin typeface="Aptos"/>
              </a:defRPr>
            </a:pPr>
            <a:r>
              <a:t>Cari. Lamar.</a:t>
            </a:r>
          </a:p>
          <a:p>
            <a:pPr algn="ctr">
              <a:defRPr sz="900" b="0">
                <a:solidFill>
                  <a:srgbClr val="737A8C"/>
                </a:solidFill>
                <a:latin typeface="Aptos"/>
              </a:defRPr>
            </a:pPr>
            <a:r>
              <a:t>Raih karier.</a:t>
            </a:r>
          </a:p>
        </p:txBody>
      </p:sp>
      <p:sp>
        <p:nvSpPr>
          <p:cNvPr id="17" name="Oval 16"/>
          <p:cNvSpPr/>
          <p:nvPr/>
        </p:nvSpPr>
        <p:spPr>
          <a:xfrm>
            <a:off x="9006840" y="4389120"/>
            <a:ext cx="109728" cy="109728"/>
          </a:xfrm>
          <a:prstGeom prst="ellipse">
            <a:avLst/>
          </a:prstGeom>
          <a:solidFill>
            <a:srgbClr val="F46F9F"/>
          </a:solidFill>
          <a:ln>
            <a:solidFill>
              <a:srgbClr val="F4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60" y="4389120"/>
            <a:ext cx="109728" cy="109728"/>
          </a:xfrm>
          <a:prstGeom prst="ellipse">
            <a:avLst/>
          </a:prstGeom>
          <a:solidFill>
            <a:srgbClr val="5F99F2"/>
          </a:solidFill>
          <a:ln>
            <a:solidFill>
              <a:srgbClr val="5F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55480" y="4389120"/>
            <a:ext cx="109728" cy="109728"/>
          </a:xfrm>
          <a:prstGeom prst="ellipse">
            <a:avLst/>
          </a:prstGeom>
          <a:solidFill>
            <a:srgbClr val="41AD85"/>
          </a:solidFill>
          <a:ln>
            <a:solidFill>
              <a:srgbClr val="41A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